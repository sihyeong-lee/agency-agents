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2" r:id="rId2"/>
    <p:sldId id="264" r:id="rId3"/>
    <p:sldId id="265" r:id="rId4"/>
    <p:sldId id="263" r:id="rId5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C6A91BB-FACA-40DB-8BC1-99C03D66C6D0}">
          <p14:sldIdLst>
            <p14:sldId id="262"/>
            <p14:sldId id="264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5955" userDrawn="1">
          <p15:clr>
            <a:srgbClr val="A4A3A4"/>
          </p15:clr>
        </p15:guide>
        <p15:guide id="6" orient="horz" pos="572" userDrawn="1">
          <p15:clr>
            <a:srgbClr val="A4A3A4"/>
          </p15:clr>
        </p15:guide>
        <p15:guide id="7" orient="horz" pos="3974" userDrawn="1">
          <p15:clr>
            <a:srgbClr val="A4A3A4"/>
          </p15:clr>
        </p15:guide>
        <p15:guide id="8" pos="285" userDrawn="1">
          <p15:clr>
            <a:srgbClr val="A4A3A4"/>
          </p15:clr>
        </p15:guide>
        <p15:guide id="12" orient="horz" pos="799" userDrawn="1">
          <p15:clr>
            <a:srgbClr val="A4A3A4"/>
          </p15:clr>
        </p15:guide>
        <p15:guide id="13" pos="3347" userDrawn="1">
          <p15:clr>
            <a:srgbClr val="A4A3A4"/>
          </p15:clr>
        </p15:guide>
        <p15:guide id="14" pos="807" userDrawn="1">
          <p15:clr>
            <a:srgbClr val="A4A3A4"/>
          </p15:clr>
        </p15:guide>
        <p15:guide id="15" pos="5524" userDrawn="1">
          <p15:clr>
            <a:srgbClr val="A4A3A4"/>
          </p15:clr>
        </p15:guide>
        <p15:guide id="16" orient="horz" pos="32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380" y="102"/>
      </p:cViewPr>
      <p:guideLst>
        <p:guide orient="horz" pos="2160"/>
        <p:guide pos="3120"/>
        <p:guide pos="5955"/>
        <p:guide orient="horz" pos="572"/>
        <p:guide orient="horz" pos="3974"/>
        <p:guide pos="285"/>
        <p:guide orient="horz" pos="799"/>
        <p:guide pos="3347"/>
        <p:guide pos="807"/>
        <p:guide pos="5524"/>
        <p:guide orient="horz" pos="32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8E54D-DC72-4EBB-9586-5746097A2F2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1233488"/>
            <a:ext cx="481012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37BF88-4064-4D34-ABD9-056981B0B9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34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57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71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4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06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15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23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11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47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7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C035B-37E8-421E-934F-B476FBCB336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724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4">
            <a:extLst>
              <a:ext uri="{FF2B5EF4-FFF2-40B4-BE49-F238E27FC236}">
                <a16:creationId xmlns:a16="http://schemas.microsoft.com/office/drawing/2014/main" id="{D2125FA0-0621-4B62-8A12-A9194A210EE0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r>
              <a:rPr lang="en-US" altLang="ko-KR" dirty="0"/>
              <a:t>1. </a:t>
            </a:r>
            <a:r>
              <a:rPr lang="ko-KR" altLang="en-US" sz="1600" dirty="0"/>
              <a:t>법인장</a:t>
            </a:r>
            <a:endParaRPr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111E56-CEC7-4A0C-9020-C7CF760485BE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E3E400C-5F87-4C02-BF3B-1451FB853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164677"/>
              </p:ext>
            </p:extLst>
          </p:nvPr>
        </p:nvGraphicFramePr>
        <p:xfrm>
          <a:off x="452437" y="908049"/>
          <a:ext cx="9001115" cy="5396957"/>
        </p:xfrm>
        <a:graphic>
          <a:graphicData uri="http://schemas.openxmlformats.org/drawingml/2006/table">
            <a:tbl>
              <a:tblPr/>
              <a:tblGrid>
                <a:gridCol w="816662">
                  <a:extLst>
                    <a:ext uri="{9D8B030D-6E8A-4147-A177-3AD203B41FA5}">
                      <a16:colId xmlns:a16="http://schemas.microsoft.com/office/drawing/2014/main" val="2280191092"/>
                    </a:ext>
                  </a:extLst>
                </a:gridCol>
                <a:gridCol w="4034421">
                  <a:extLst>
                    <a:ext uri="{9D8B030D-6E8A-4147-A177-3AD203B41FA5}">
                      <a16:colId xmlns:a16="http://schemas.microsoft.com/office/drawing/2014/main" val="1760380628"/>
                    </a:ext>
                  </a:extLst>
                </a:gridCol>
                <a:gridCol w="691672">
                  <a:extLst>
                    <a:ext uri="{9D8B030D-6E8A-4147-A177-3AD203B41FA5}">
                      <a16:colId xmlns:a16="http://schemas.microsoft.com/office/drawing/2014/main" val="2035907014"/>
                    </a:ext>
                  </a:extLst>
                </a:gridCol>
                <a:gridCol w="691672">
                  <a:extLst>
                    <a:ext uri="{9D8B030D-6E8A-4147-A177-3AD203B41FA5}">
                      <a16:colId xmlns:a16="http://schemas.microsoft.com/office/drawing/2014/main" val="4085892270"/>
                    </a:ext>
                  </a:extLst>
                </a:gridCol>
                <a:gridCol w="691672">
                  <a:extLst>
                    <a:ext uri="{9D8B030D-6E8A-4147-A177-3AD203B41FA5}">
                      <a16:colId xmlns:a16="http://schemas.microsoft.com/office/drawing/2014/main" val="1593140120"/>
                    </a:ext>
                  </a:extLst>
                </a:gridCol>
                <a:gridCol w="691672">
                  <a:extLst>
                    <a:ext uri="{9D8B030D-6E8A-4147-A177-3AD203B41FA5}">
                      <a16:colId xmlns:a16="http://schemas.microsoft.com/office/drawing/2014/main" val="1119419342"/>
                    </a:ext>
                  </a:extLst>
                </a:gridCol>
                <a:gridCol w="691672">
                  <a:extLst>
                    <a:ext uri="{9D8B030D-6E8A-4147-A177-3AD203B41FA5}">
                      <a16:colId xmlns:a16="http://schemas.microsoft.com/office/drawing/2014/main" val="2950291552"/>
                    </a:ext>
                  </a:extLst>
                </a:gridCol>
                <a:gridCol w="691672">
                  <a:extLst>
                    <a:ext uri="{9D8B030D-6E8A-4147-A177-3AD203B41FA5}">
                      <a16:colId xmlns:a16="http://schemas.microsoft.com/office/drawing/2014/main" val="799790779"/>
                    </a:ext>
                  </a:extLst>
                </a:gridCol>
              </a:tblGrid>
              <a:tr h="18704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 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문 항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기준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평가결과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105889"/>
                  </a:ext>
                </a:extLst>
              </a:tr>
              <a:tr h="1870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29064"/>
                  </a:ext>
                </a:extLst>
              </a:tr>
              <a:tr h="197492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철학 및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경영상황 공유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법인장은 정기적으로 법인의 비전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철학 및 주요 경영현황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사업실적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투자계획 등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공유를 위해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타운홀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미팅을 진행하거나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CEO News Letter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보낸다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Quarterly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Biannually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426587"/>
                  </a:ext>
                </a:extLst>
              </a:tr>
              <a:tr h="7897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Live(Direct) 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Meeting,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Recorded</a:t>
                      </a:r>
                    </a:p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Video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Recorded Video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 Meeting,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Video display,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Email,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Bulletin Board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Video display,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Email, 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Bulletin Board,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Email and,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Bulletin Board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Only Email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898146"/>
                  </a:ext>
                </a:extLst>
              </a:tr>
              <a:tr h="3553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법인장은 계층별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부서별 사원 간담회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중식 미팅 등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정기적으로 진행하고 있다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More than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Quarterly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345141"/>
                  </a:ext>
                </a:extLst>
              </a:tr>
              <a:tr h="355381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 경영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리더십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소통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법인장이 직접 개입하는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Direct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소통 채널을 운영한다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784034"/>
                  </a:ext>
                </a:extLst>
              </a:tr>
              <a:tr h="3553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법인장은 관할 사업장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 라인에 정기적으로 방문한다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 times per 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Week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Once Month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82430"/>
                  </a:ext>
                </a:extLst>
              </a:tr>
              <a:tr h="3966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법인장은 간담회 및 소통채널을 통해 취합된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VOE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처리하고 있으며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그 결과가 구성원들에게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피드백될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 있도록 관심을 가지고 관리한다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757767"/>
                  </a:ext>
                </a:extLst>
              </a:tr>
              <a:tr h="39666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 전략 하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Risk 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인지도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중요 사업 회의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아젠다에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노경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Part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 있거나 노경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Issues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다루는 회의를 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정기적으로 운영하고 있다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More than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Quarterly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Only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Issues occurs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633669"/>
                  </a:ext>
                </a:extLst>
              </a:tr>
              <a:tr h="3966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의사결정 또는 공식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Comment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노경관계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구성원들에게 미칠 영향에 관해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의견을 듣는다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755984"/>
                  </a:ext>
                </a:extLst>
              </a:tr>
              <a:tr h="35538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경영진의</a:t>
                      </a:r>
                      <a:b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</a:t>
                      </a:r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사람관리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</a:t>
                      </a:r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독려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지원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marR="0" lvl="0" indent="0" algn="l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법인장은 담당의 부서별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계층별 조직 활성화 프로그램이 운영되도록 지원한다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Quarterly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67009"/>
                  </a:ext>
                </a:extLst>
              </a:tr>
              <a:tr h="313214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361" marR="1361" marT="1361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법인장은 담당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조직관리 관련 내용을 반영한다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7%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3%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1%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480008"/>
                  </a:ext>
                </a:extLst>
              </a:tr>
              <a:tr h="25200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Feedback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6400"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Sub Total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40/50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171157"/>
                  </a:ext>
                </a:extLst>
              </a:tr>
              <a:tr h="4294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Good Point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578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[Follow up Check]</a:t>
                      </a:r>
                    </a:p>
                  </a:txBody>
                  <a:tcPr marL="1361" marR="1361" marT="1361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487667"/>
                  </a:ext>
                </a:extLst>
              </a:tr>
              <a:tr h="4294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개선과제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578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418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92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4">
            <a:extLst>
              <a:ext uri="{FF2B5EF4-FFF2-40B4-BE49-F238E27FC236}">
                <a16:creationId xmlns:a16="http://schemas.microsoft.com/office/drawing/2014/main" id="{D2125FA0-0621-4B62-8A12-A9194A210EE0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r>
              <a:rPr lang="en-US" altLang="ko-KR" dirty="0"/>
              <a:t>2. </a:t>
            </a:r>
            <a:r>
              <a:rPr lang="en-US" altLang="ko-KR" sz="1600" dirty="0"/>
              <a:t>HR/ER</a:t>
            </a:r>
            <a:r>
              <a:rPr lang="ko-KR" altLang="en-US" sz="1600" dirty="0"/>
              <a:t>팀 </a:t>
            </a:r>
            <a:r>
              <a:rPr lang="en-US" altLang="ko-KR" sz="1600" dirty="0"/>
              <a:t>(1)</a:t>
            </a:r>
            <a:endParaRPr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111E56-CEC7-4A0C-9020-C7CF760485BE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D15201-E23D-4426-914E-1FBA5FB0A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908200"/>
              </p:ext>
            </p:extLst>
          </p:nvPr>
        </p:nvGraphicFramePr>
        <p:xfrm>
          <a:off x="452437" y="908050"/>
          <a:ext cx="9001130" cy="5407584"/>
        </p:xfrm>
        <a:graphic>
          <a:graphicData uri="http://schemas.openxmlformats.org/drawingml/2006/table">
            <a:tbl>
              <a:tblPr/>
              <a:tblGrid>
                <a:gridCol w="841803">
                  <a:extLst>
                    <a:ext uri="{9D8B030D-6E8A-4147-A177-3AD203B41FA5}">
                      <a16:colId xmlns:a16="http://schemas.microsoft.com/office/drawing/2014/main" val="2280191092"/>
                    </a:ext>
                  </a:extLst>
                </a:gridCol>
                <a:gridCol w="4017989">
                  <a:extLst>
                    <a:ext uri="{9D8B030D-6E8A-4147-A177-3AD203B41FA5}">
                      <a16:colId xmlns:a16="http://schemas.microsoft.com/office/drawing/2014/main" val="1760380628"/>
                    </a:ext>
                  </a:extLst>
                </a:gridCol>
                <a:gridCol w="690223">
                  <a:extLst>
                    <a:ext uri="{9D8B030D-6E8A-4147-A177-3AD203B41FA5}">
                      <a16:colId xmlns:a16="http://schemas.microsoft.com/office/drawing/2014/main" val="2035907014"/>
                    </a:ext>
                  </a:extLst>
                </a:gridCol>
                <a:gridCol w="690223">
                  <a:extLst>
                    <a:ext uri="{9D8B030D-6E8A-4147-A177-3AD203B41FA5}">
                      <a16:colId xmlns:a16="http://schemas.microsoft.com/office/drawing/2014/main" val="4085892270"/>
                    </a:ext>
                  </a:extLst>
                </a:gridCol>
                <a:gridCol w="690223">
                  <a:extLst>
                    <a:ext uri="{9D8B030D-6E8A-4147-A177-3AD203B41FA5}">
                      <a16:colId xmlns:a16="http://schemas.microsoft.com/office/drawing/2014/main" val="1593140120"/>
                    </a:ext>
                  </a:extLst>
                </a:gridCol>
                <a:gridCol w="690223">
                  <a:extLst>
                    <a:ext uri="{9D8B030D-6E8A-4147-A177-3AD203B41FA5}">
                      <a16:colId xmlns:a16="http://schemas.microsoft.com/office/drawing/2014/main" val="1119419342"/>
                    </a:ext>
                  </a:extLst>
                </a:gridCol>
                <a:gridCol w="690223">
                  <a:extLst>
                    <a:ext uri="{9D8B030D-6E8A-4147-A177-3AD203B41FA5}">
                      <a16:colId xmlns:a16="http://schemas.microsoft.com/office/drawing/2014/main" val="2950291552"/>
                    </a:ext>
                  </a:extLst>
                </a:gridCol>
                <a:gridCol w="690223">
                  <a:extLst>
                    <a:ext uri="{9D8B030D-6E8A-4147-A177-3AD203B41FA5}">
                      <a16:colId xmlns:a16="http://schemas.microsoft.com/office/drawing/2014/main" val="3263868870"/>
                    </a:ext>
                  </a:extLst>
                </a:gridCol>
              </a:tblGrid>
              <a:tr h="208608">
                <a:tc rowSpan="2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 역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문 항 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평가 기준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평가결과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1058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29064"/>
                  </a:ext>
                </a:extLst>
              </a:tr>
              <a:tr h="419278">
                <a:tc rowSpan="7">
                  <a:txBody>
                    <a:bodyPr/>
                    <a:lstStyle/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VOE </a:t>
                      </a:r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및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우호정서 관리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HR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은 구성원이 쉽게 접근할 수 있는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On 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Off Line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VOE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채널을 구축하고 있다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Yes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887131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채널을 통한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Pain Point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취합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Feedback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은 신속하고 효과적이다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Within 1 Week </a:t>
                      </a:r>
                      <a:b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and Adequate</a:t>
                      </a:r>
                      <a:b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Response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Within 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Two Weeks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Within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One Month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Within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two months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pc="-7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More than </a:t>
                      </a:r>
                      <a:br>
                        <a:rPr lang="en-US" sz="900" b="0" i="0" u="none" strike="noStrike" spc="-7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spc="-7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two months or </a:t>
                      </a:r>
                      <a:br>
                        <a:rPr lang="en-US" sz="900" b="0" i="0" u="none" strike="noStrike" spc="-7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spc="-7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improper response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264832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61" marR="1361" marT="1361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은 현장 리더를 통해 현장사원의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(HR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공유되지 않은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VOE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공유 받는다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Often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Quaterly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or None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992058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취합하여 경영진에게 정기적으로 보고한다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Biweekly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Quaterlly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Only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Issues occurs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300810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대한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Feedback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 개선사항을 구성원들에게  정기적으로 홍보한다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Biweekly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Quaterlly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Only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Issues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occurs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851132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 사원 대상 조직활성화 프로그램을 운영한다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Quarterly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Biennially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0817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회사의 정책 및 우호 정서를 전파할 수 있는  창구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(Opinion Leader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양성 등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구축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양성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하고 있다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Yes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12978"/>
                  </a:ext>
                </a:extLst>
              </a:tr>
              <a:tr h="419278">
                <a:tc rowSpan="3">
                  <a:txBody>
                    <a:bodyPr/>
                    <a:lstStyle/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노동조합 및</a:t>
                      </a:r>
                      <a:endParaRPr lang="en-US" altLang="ko-KR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사원협의체</a:t>
                      </a:r>
                      <a:endParaRPr 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법인장이 참여하는 구성원의 의견 청취 기구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프로그램을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정기적으로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운영하고 있다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1~2 in a month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Bimonthly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1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Once in a </a:t>
                      </a:r>
                      <a:br>
                        <a:rPr lang="en-US" sz="900" b="1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1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Quarter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Regularly but </a:t>
                      </a:r>
                      <a:b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without </a:t>
                      </a:r>
                      <a:b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management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Annually or </a:t>
                      </a:r>
                      <a:b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None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230648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은 사원협의체 의제사항을 경영진과 논의 후 직원들에게 피드백을 준다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1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Within 1 Week </a:t>
                      </a:r>
                      <a:br>
                        <a:rPr lang="en-US" sz="900" b="1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1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and Adequate</a:t>
                      </a:r>
                      <a:br>
                        <a:rPr lang="en-US" sz="900" b="1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1" i="0" u="none" strike="noStrike" kern="1200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Response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Within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Two Weeks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Within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One Month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Within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two months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More than </a:t>
                      </a:r>
                      <a:br>
                        <a:rPr lang="en-US" sz="900" b="0" i="0" u="none" strike="noStrike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two months or </a:t>
                      </a:r>
                      <a:br>
                        <a:rPr lang="en-US" sz="900" b="0" i="0" u="none" strike="noStrike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spc="-7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improper response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464357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노동조합과의 소통채널 및 공식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비공식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Relationship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 확보되어 있다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Yes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492106"/>
                  </a:ext>
                </a:extLst>
              </a:tr>
              <a:tr h="4192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Contingency</a:t>
                      </a:r>
                    </a:p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Plan</a:t>
                      </a:r>
                    </a:p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기획</a:t>
                      </a: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및 운영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상황별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시나리오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Plan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Action Plan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C-Plan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을 자체적으로 수립 가능하다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50080"/>
                  </a:ext>
                </a:extLst>
              </a:tr>
              <a:tr h="419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비상상황 발생 시 생산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Back up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확보 및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조정을 타 부서와 곧바로 조정할 수 있는 체계가 있다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86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31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4">
            <a:extLst>
              <a:ext uri="{FF2B5EF4-FFF2-40B4-BE49-F238E27FC236}">
                <a16:creationId xmlns:a16="http://schemas.microsoft.com/office/drawing/2014/main" id="{D2125FA0-0621-4B62-8A12-A9194A210EE0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r>
              <a:rPr lang="en-US" altLang="ko-KR" dirty="0"/>
              <a:t>2. </a:t>
            </a:r>
            <a:r>
              <a:rPr lang="en-US" altLang="ko-KR" sz="1600" dirty="0"/>
              <a:t>HR/ER</a:t>
            </a:r>
            <a:r>
              <a:rPr lang="ko-KR" altLang="en-US" sz="1600" dirty="0"/>
              <a:t>팀 </a:t>
            </a:r>
            <a:r>
              <a:rPr lang="en-US" altLang="ko-KR" sz="1600" dirty="0"/>
              <a:t>(2)</a:t>
            </a:r>
            <a:endParaRPr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111E56-CEC7-4A0C-9020-C7CF760485BE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8141A5C-7DE3-437A-9856-A675197A8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194522"/>
              </p:ext>
            </p:extLst>
          </p:nvPr>
        </p:nvGraphicFramePr>
        <p:xfrm>
          <a:off x="452438" y="908052"/>
          <a:ext cx="9001125" cy="5391057"/>
        </p:xfrm>
        <a:graphic>
          <a:graphicData uri="http://schemas.openxmlformats.org/drawingml/2006/table">
            <a:tbl>
              <a:tblPr/>
              <a:tblGrid>
                <a:gridCol w="836431">
                  <a:extLst>
                    <a:ext uri="{9D8B030D-6E8A-4147-A177-3AD203B41FA5}">
                      <a16:colId xmlns:a16="http://schemas.microsoft.com/office/drawing/2014/main" val="2280191092"/>
                    </a:ext>
                  </a:extLst>
                </a:gridCol>
                <a:gridCol w="4032068">
                  <a:extLst>
                    <a:ext uri="{9D8B030D-6E8A-4147-A177-3AD203B41FA5}">
                      <a16:colId xmlns:a16="http://schemas.microsoft.com/office/drawing/2014/main" val="1760380628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2035907014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4085892270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1593140120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1119419342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2950291552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1421442016"/>
                    </a:ext>
                  </a:extLst>
                </a:gridCol>
              </a:tblGrid>
              <a:tr h="192106">
                <a:tc rowSpan="2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 역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문 항 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평가 기준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평가결과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105889"/>
                  </a:ext>
                </a:extLst>
              </a:tr>
              <a:tr h="1755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endParaRPr lang="en-US" altLang="ko-KR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29064"/>
                  </a:ext>
                </a:extLst>
              </a:tr>
              <a:tr h="487941">
                <a:tc rowSpan="3">
                  <a:txBody>
                    <a:bodyPr/>
                    <a:lstStyle/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제도 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 교육 </a:t>
                      </a:r>
                      <a:endParaRPr lang="ko-KR" alt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신입에게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Training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을 하고 있으며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이후에도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제도에 대해 정기적으로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Training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을 한다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Training regularly</a:t>
                      </a:r>
                      <a:b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including</a:t>
                      </a:r>
                      <a:b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new hire training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Training when </a:t>
                      </a:r>
                      <a:b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HR policies are </a:t>
                      </a:r>
                      <a:b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updated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Only once at new,</a:t>
                      </a:r>
                      <a:b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or updates,  </a:t>
                      </a:r>
                      <a:br>
                        <a:rPr lang="en-US" sz="900" b="0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900" b="0" i="0" u="none" strike="noStrike" kern="1200" spc="-8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only literal Ushering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Just Posting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708177"/>
                  </a:ext>
                </a:extLst>
              </a:tr>
              <a:tr h="406918"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61" marR="1361" marT="1361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제도 및 위반 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Penalty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대해 사원들이 쉽게 찾아보고 이해할 수 있도록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게시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 관리자를 통한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notice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하고 있다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-5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712630"/>
                  </a:ext>
                </a:extLst>
              </a:tr>
              <a:tr h="406918"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61" marR="1361" marT="1361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제도 변경 시 구성원들의 의견을 듣거나 구성원 참여 과정이 있으며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변경결과를 신속하게 커뮤니케이션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한다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50634"/>
                  </a:ext>
                </a:extLst>
              </a:tr>
              <a:tr h="40691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Training/Care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Field Leaders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현장리더에게 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 Policy(Compliance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포함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Union issues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 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Knowledge up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교육을 정기적으로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진행한다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Somewhat </a:t>
                      </a:r>
                      <a:b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735659"/>
                  </a:ext>
                </a:extLst>
              </a:tr>
              <a:tr h="3258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Leadership / Communication Skill up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을 위한 프로그램을 운영한다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Somewhat </a:t>
                      </a:r>
                      <a:b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993662"/>
                  </a:ext>
                </a:extLst>
              </a:tr>
              <a:tr h="24855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컴플라이언스 및 </a:t>
                      </a:r>
                      <a:endParaRPr lang="en-US" altLang="ko-KR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유관기관</a:t>
                      </a:r>
                      <a:b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동향 관리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 Compliance checklist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업데이트와 점검을 정기적으로 하고 있다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Annually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Biennially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19846"/>
                  </a:ext>
                </a:extLst>
              </a:tr>
              <a:tr h="568455"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61" marR="1361" marT="1361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Compliance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관련 경고 및 일관된 징계 절차를 운영하고 있다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criteria is clear </a:t>
                      </a:r>
                      <a:b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and decision is </a:t>
                      </a:r>
                      <a:b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consistent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Process works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but unclear and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decisions are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inconsistent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Process exist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but not used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(Results are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discretionary)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Process does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not exist,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result depends on discretion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(No warning, 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 penalty)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083212"/>
                  </a:ext>
                </a:extLst>
              </a:tr>
              <a:tr h="2043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은 부당노동행위 관련 법에 대해 인지하고 준수하고 있다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3809"/>
                  </a:ext>
                </a:extLst>
              </a:tr>
              <a:tr h="406918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361" marR="1361" marT="1361" marB="0" anchor="ctr"/>
                </a:tc>
                <a:tc>
                  <a:txBody>
                    <a:bodyPr/>
                    <a:lstStyle/>
                    <a:p>
                      <a:pPr marL="86400" marR="0" lvl="0" indent="0" algn="l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노동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관련 기관 또는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Cluster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노사 관계자와 네트워킹을 통해 수시 교류 및 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정보공유를 하고 있다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889099"/>
                  </a:ext>
                </a:extLst>
              </a:tr>
              <a:tr h="451748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61" marR="1361" marT="1361" marB="0" anchor="ctr"/>
                </a:tc>
                <a:tc>
                  <a:txBody>
                    <a:bodyPr/>
                    <a:lstStyle/>
                    <a:p>
                      <a:pPr marL="86400"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노동 관련 기관 및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Cluster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또는 컴플라이언스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관리를 통해 파악한 현안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노경이슈 또는 정보를 법인장에게 정기적으로 보고한다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1~2 in a month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Once in a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Quarter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Regularly but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without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management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Annually 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or None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928884"/>
                  </a:ext>
                </a:extLst>
              </a:tr>
              <a:tr h="25200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Feedback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6400"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Sub Total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94/110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489572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Good Point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578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[Follow up Check]</a:t>
                      </a:r>
                    </a:p>
                  </a:txBody>
                  <a:tcPr marL="1361" marR="1361" marT="1361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799439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개선과제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578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982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42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4">
            <a:extLst>
              <a:ext uri="{FF2B5EF4-FFF2-40B4-BE49-F238E27FC236}">
                <a16:creationId xmlns:a16="http://schemas.microsoft.com/office/drawing/2014/main" id="{D2125FA0-0621-4B62-8A12-A9194A210EE0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r>
              <a:rPr lang="en-US" altLang="ko-KR" dirty="0"/>
              <a:t>3.</a:t>
            </a:r>
            <a:r>
              <a:rPr lang="ko-KR" altLang="en-US" sz="1600" dirty="0"/>
              <a:t> 현장관리자</a:t>
            </a:r>
            <a:endParaRPr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111E56-CEC7-4A0C-9020-C7CF760485BE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28E0FF1-EB2E-49C4-972C-EECEBBB32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309325"/>
              </p:ext>
            </p:extLst>
          </p:nvPr>
        </p:nvGraphicFramePr>
        <p:xfrm>
          <a:off x="452438" y="908050"/>
          <a:ext cx="9001125" cy="5393468"/>
        </p:xfrm>
        <a:graphic>
          <a:graphicData uri="http://schemas.openxmlformats.org/drawingml/2006/table">
            <a:tbl>
              <a:tblPr/>
              <a:tblGrid>
                <a:gridCol w="827722">
                  <a:extLst>
                    <a:ext uri="{9D8B030D-6E8A-4147-A177-3AD203B41FA5}">
                      <a16:colId xmlns:a16="http://schemas.microsoft.com/office/drawing/2014/main" val="2280191092"/>
                    </a:ext>
                  </a:extLst>
                </a:gridCol>
                <a:gridCol w="4040777">
                  <a:extLst>
                    <a:ext uri="{9D8B030D-6E8A-4147-A177-3AD203B41FA5}">
                      <a16:colId xmlns:a16="http://schemas.microsoft.com/office/drawing/2014/main" val="1760380628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2035907014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4085892270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1593140120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1119419342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2950291552"/>
                    </a:ext>
                  </a:extLst>
                </a:gridCol>
                <a:gridCol w="688771">
                  <a:extLst>
                    <a:ext uri="{9D8B030D-6E8A-4147-A177-3AD203B41FA5}">
                      <a16:colId xmlns:a16="http://schemas.microsoft.com/office/drawing/2014/main" val="3829275390"/>
                    </a:ext>
                  </a:extLst>
                </a:gridCol>
              </a:tblGrid>
              <a:tr h="16807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 역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문 항 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평가 기준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평가결과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105889"/>
                  </a:ext>
                </a:extLst>
              </a:tr>
              <a:tr h="201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557199" rtl="0" eaLnBrk="1" fontAlgn="ctr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557199" rtl="0" eaLnBrk="1" fontAlgn="ctr" latinLnBrk="1" hangingPunct="1"/>
                      <a:endParaRPr lang="en-US" altLang="ko-KR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29064"/>
                  </a:ext>
                </a:extLst>
              </a:tr>
              <a:tr h="323251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 리더십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현장관리자의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조직 및 사람 관리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 포함되어 있다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Yes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661674"/>
                  </a:ext>
                </a:extLst>
              </a:tr>
              <a:tr h="323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구성원들은 현장 리더를 신뢰하고 따른다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55789"/>
                  </a:ext>
                </a:extLst>
              </a:tr>
              <a:tr h="301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 Policy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이해하고 구성원들의 질의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이슈에 대응할 수 있다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Respond</a:t>
                      </a:r>
                      <a:b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Properly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Respond after </a:t>
                      </a:r>
                    </a:p>
                    <a:p>
                      <a:pPr algn="ctr" fontAlgn="ctr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Asking HR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Pass it to HR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Respond but</a:t>
                      </a:r>
                      <a:b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Unporper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None</a:t>
                      </a:r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524038"/>
                  </a:ext>
                </a:extLst>
              </a:tr>
              <a:tr h="323251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커뮤니케이션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역량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정기적으로 현장사원과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1:1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면담을 한다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Often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Quarterly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000707"/>
                  </a:ext>
                </a:extLst>
              </a:tr>
              <a:tr h="323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현장관리자는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면담 결과에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대한 피드백을 잘 한다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713586"/>
                  </a:ext>
                </a:extLst>
              </a:tr>
              <a:tr h="323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marR="0" lvl="0" indent="0" algn="l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현장관리자는 소통역량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스킬 향상을 위한 교육 프로그램에 적극 참여한다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90%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85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75%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75%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or</a:t>
                      </a:r>
                      <a:b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52016"/>
                  </a:ext>
                </a:extLst>
              </a:tr>
              <a:tr h="323251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포함 </a:t>
                      </a:r>
                      <a:b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정보관리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marR="0" lvl="0" indent="0" algn="l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현장관리자는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정기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면담 결과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누적하여 기록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관리하고 있다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Only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</a:t>
                      </a:r>
                      <a:b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Issues occurs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811998"/>
                  </a:ext>
                </a:extLst>
              </a:tr>
              <a:tr h="323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사원 면담 결과 및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주요사항을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팀에 정기적으로 공유하고 있다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Often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Biweekly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Monthly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Quaterly</a:t>
                      </a:r>
                      <a:b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or None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926202"/>
                  </a:ext>
                </a:extLst>
              </a:tr>
              <a:tr h="323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회사의 정책 변화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우호적 입장을 현장사원에게 전파할 수 있다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True  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Very Untrue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343939"/>
                  </a:ext>
                </a:extLst>
              </a:tr>
              <a:tr h="323251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Risk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관심도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55719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동기부여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회사의 조직관리 또는 노경관리 역량향상 교육 프로그램에 적극적으로 참여한다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90%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85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80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75%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75%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or</a:t>
                      </a:r>
                      <a:b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287343"/>
                  </a:ext>
                </a:extLst>
              </a:tr>
              <a:tr h="381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fontAlgn="ctr">
                        <a:spcBef>
                          <a:spcPts val="0"/>
                        </a:spcBef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Union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관련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Fact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장단점 등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인지하고 구성원에게 설명 가능하다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Explain</a:t>
                      </a:r>
                      <a:b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Properly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Explain after </a:t>
                      </a:r>
                    </a:p>
                    <a:p>
                      <a:pPr algn="ctr" fontAlgn="ctr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Asking HR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Pass it to HR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Explain but</a:t>
                      </a:r>
                      <a:b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Unporper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None</a:t>
                      </a:r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72916"/>
                  </a:ext>
                </a:extLst>
              </a:tr>
              <a:tr h="323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6400" algn="l" defTabSz="557199" rtl="0" eaLnBrk="1" fontAlgn="ctr" latinLnBrk="1" hangingPunct="1">
                        <a:spcBef>
                          <a:spcPts val="0"/>
                        </a:spcBef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 관리자들의 조직관리를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케어하기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위한 인센티브 제도를 운영한다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Yes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Somewhat True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None</a:t>
                      </a:r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451692"/>
                  </a:ext>
                </a:extLst>
              </a:tr>
              <a:tr h="25200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Feedback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6400"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Sub Total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53/60</a:t>
                      </a: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32909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Good Point</a:t>
                      </a: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[Follow up Check]</a:t>
                      </a:r>
                    </a:p>
                  </a:txBody>
                  <a:tcPr marL="1361" marR="1361" marT="1361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13563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개선과제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578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361" marR="1361" marT="136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887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703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3083</TotalTime>
  <Words>1322</Words>
  <Application>Microsoft Office PowerPoint</Application>
  <PresentationFormat>A4 용지(210x297mm)</PresentationFormat>
  <Paragraphs>398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LG스마트체 Regular</vt:lpstr>
      <vt:lpstr>맑은 고딕</vt:lpstr>
      <vt:lpstr>Arial</vt:lpstr>
      <vt:lpstr>Arial Narrow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김지양(KIMJIYANG)[gsheep]/선임/노경기획팀</dc:creator>
  <cp:lastModifiedBy>김지양(JIYANG KIM)[gsheep]/책임/노경기획팀</cp:lastModifiedBy>
  <cp:revision>119</cp:revision>
  <cp:lastPrinted>2024-05-31T01:08:17Z</cp:lastPrinted>
  <dcterms:created xsi:type="dcterms:W3CDTF">2024-04-02T23:59:21Z</dcterms:created>
  <dcterms:modified xsi:type="dcterms:W3CDTF">2026-03-27T01:48:33Z</dcterms:modified>
</cp:coreProperties>
</file>